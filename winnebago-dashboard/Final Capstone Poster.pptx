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05" r:id="rId1"/>
  </p:sldMasterIdLst>
  <p:notesMasterIdLst>
    <p:notesMasterId r:id="rId3"/>
  </p:notesMasterIdLst>
  <p:sldIdLst>
    <p:sldId id="27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m, Hyebin" initials="KH" lastIdx="1" clrIdx="0">
    <p:extLst>
      <p:ext uri="{19B8F6BF-5375-455C-9EA6-DF929625EA0E}">
        <p15:presenceInfo xmlns:p15="http://schemas.microsoft.com/office/powerpoint/2012/main" userId="0043cae1-4387-42c5-a185-928aa019b8e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795F8"/>
    <a:srgbClr val="DDEA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56DEC7-B31A-4C68-847D-A55A1B519171}" v="1" dt="2025-12-11T03:47:04.9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7229"/>
    <p:restoredTop sz="95775"/>
  </p:normalViewPr>
  <p:slideViewPr>
    <p:cSldViewPr snapToGrid="0">
      <p:cViewPr varScale="1">
        <p:scale>
          <a:sx n="105" d="100"/>
          <a:sy n="105" d="100"/>
        </p:scale>
        <p:origin x="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commentAuthors" Target="commentAuthors.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ily Hamling" userId="4fa097d7873d41e8" providerId="LiveId" clId="{83D3920D-4282-4059-9A86-9859D296E4A4}"/>
    <pc:docChg chg="custSel modSld">
      <pc:chgData name="Emily Hamling" userId="4fa097d7873d41e8" providerId="LiveId" clId="{83D3920D-4282-4059-9A86-9859D296E4A4}" dt="2025-12-11T03:47:21.043" v="5" actId="1076"/>
      <pc:docMkLst>
        <pc:docMk/>
      </pc:docMkLst>
      <pc:sldChg chg="addSp delSp modSp mod">
        <pc:chgData name="Emily Hamling" userId="4fa097d7873d41e8" providerId="LiveId" clId="{83D3920D-4282-4059-9A86-9859D296E4A4}" dt="2025-12-11T03:47:21.043" v="5" actId="1076"/>
        <pc:sldMkLst>
          <pc:docMk/>
          <pc:sldMk cId="2107507636" sldId="274"/>
        </pc:sldMkLst>
        <pc:picChg chg="add mod">
          <ac:chgData name="Emily Hamling" userId="4fa097d7873d41e8" providerId="LiveId" clId="{83D3920D-4282-4059-9A86-9859D296E4A4}" dt="2025-12-11T03:47:21.043" v="5" actId="1076"/>
          <ac:picMkLst>
            <pc:docMk/>
            <pc:sldMk cId="2107507636" sldId="274"/>
            <ac:picMk id="4" creationId="{BF3837E6-A82A-C721-D937-A4A3588A9E48}"/>
          </ac:picMkLst>
        </pc:picChg>
        <pc:picChg chg="del">
          <ac:chgData name="Emily Hamling" userId="4fa097d7873d41e8" providerId="LiveId" clId="{83D3920D-4282-4059-9A86-9859D296E4A4}" dt="2025-12-11T03:46:27.502" v="0" actId="478"/>
          <ac:picMkLst>
            <pc:docMk/>
            <pc:sldMk cId="2107507636" sldId="274"/>
            <ac:picMk id="58" creationId="{435BE4E7-8846-9381-6098-DE7FD46C475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436835-45E8-46BB-94CD-FD0765082822}" type="datetimeFigureOut">
              <a:rPr lang="en-US"/>
              <a:t>12/10/2025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82E07F-4E08-4AE8-A982-7607CACD4332}" type="slidenum">
              <a:rPr lang="en-US"/>
              <a:t>‹#›</a:t>
            </a:fld>
            <a:endParaRPr lang="en-US"/>
          </a:p>
        </p:txBody>
      </p:sp>
    </p:spTree>
    <p:extLst>
      <p:ext uri="{BB962C8B-B14F-4D97-AF65-F5344CB8AC3E}">
        <p14:creationId xmlns:p14="http://schemas.microsoft.com/office/powerpoint/2010/main" val="3964678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82E07F-4E08-4AE8-A982-7607CACD4332}" type="slidenum">
              <a:rPr lang="en-US" smtClean="0"/>
              <a:t>1</a:t>
            </a:fld>
            <a:endParaRPr lang="en-US"/>
          </a:p>
        </p:txBody>
      </p:sp>
    </p:spTree>
    <p:extLst>
      <p:ext uri="{BB962C8B-B14F-4D97-AF65-F5344CB8AC3E}">
        <p14:creationId xmlns:p14="http://schemas.microsoft.com/office/powerpoint/2010/main" val="662949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3193672"/>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7319809"/>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243847"/>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78"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312115936"/>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045664821"/>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69165154"/>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846CE7D5-CF57-46EF-B807-FDD0502418D4}" type="datetimeFigureOut">
              <a:rPr lang="en-US" smtClean="0"/>
              <a:t>12/10/2025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313335549"/>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46CE7D5-CF57-46EF-B807-FDD0502418D4}" type="datetimeFigureOut">
              <a:rPr lang="en-US" smtClean="0"/>
              <a:t>12/10/2025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714929857"/>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01711669"/>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21633438"/>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62105391"/>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46CE7D5-CF57-46EF-B807-FDD0502418D4}" type="datetimeFigureOut">
              <a:rPr lang="en-US" smtClean="0"/>
              <a:t>12/10/2025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30EA680-D336-4FF7-8B7A-9848BB0A1C32}"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9883796"/>
      </p:ext>
    </p:extLst>
  </p:cSld>
  <p:clrMap bg1="lt1" tx1="dk1" bg2="lt2" tx2="dk2" accent1="accent1" accent2="accent2" accent3="accent3" accent4="accent4" accent5="accent5" accent6="accent6" hlink="hlink" folHlink="folHlink"/>
  <p:sldLayoutIdLst>
    <p:sldLayoutId id="2147484206" r:id="rId1"/>
    <p:sldLayoutId id="2147484207" r:id="rId2"/>
    <p:sldLayoutId id="2147484208" r:id="rId3"/>
    <p:sldLayoutId id="2147484209" r:id="rId4"/>
    <p:sldLayoutId id="2147484210" r:id="rId5"/>
    <p:sldLayoutId id="2147484211" r:id="rId6"/>
    <p:sldLayoutId id="2147484212" r:id="rId7"/>
    <p:sldLayoutId id="2147484213" r:id="rId8"/>
    <p:sldLayoutId id="2147484214" r:id="rId9"/>
    <p:sldLayoutId id="2147484215" r:id="rId10"/>
    <p:sldLayoutId id="2147484216" r:id="rId11"/>
  </p:sldLayoutIdLst>
  <p:transition spd="slow">
    <p:push dir="u"/>
  </p:transition>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AD2C7-ED08-6040-8445-A6A84E73D3D1}"/>
              </a:ext>
            </a:extLst>
          </p:cNvPr>
          <p:cNvSpPr>
            <a:spLocks noGrp="1"/>
          </p:cNvSpPr>
          <p:nvPr>
            <p:ph type="title" idx="4294967295"/>
          </p:nvPr>
        </p:nvSpPr>
        <p:spPr>
          <a:xfrm>
            <a:off x="65328" y="543515"/>
            <a:ext cx="1928813" cy="220662"/>
          </a:xfrm>
        </p:spPr>
        <p:txBody>
          <a:bodyPr anchor="ctr">
            <a:noAutofit/>
          </a:bodyPr>
          <a:lstStyle/>
          <a:p>
            <a:r>
              <a:rPr lang="en-US" sz="1400" b="1" dirty="0">
                <a:solidFill>
                  <a:srgbClr val="002060"/>
                </a:solidFill>
                <a:latin typeface="Calibri" panose="020F0502020204030204" pitchFamily="34" charset="0"/>
                <a:cs typeface="Calibri" panose="020F0502020204030204" pitchFamily="34" charset="0"/>
              </a:rPr>
              <a:t>1. Objective</a:t>
            </a:r>
          </a:p>
        </p:txBody>
      </p:sp>
      <p:sp>
        <p:nvSpPr>
          <p:cNvPr id="20" name="Rectangle 19">
            <a:extLst>
              <a:ext uri="{FF2B5EF4-FFF2-40B4-BE49-F238E27FC236}">
                <a16:creationId xmlns:a16="http://schemas.microsoft.com/office/drawing/2014/main" id="{213D5182-9070-3448-8E76-C184DF14C3F2}"/>
              </a:ext>
            </a:extLst>
          </p:cNvPr>
          <p:cNvSpPr/>
          <p:nvPr/>
        </p:nvSpPr>
        <p:spPr>
          <a:xfrm>
            <a:off x="113333" y="763323"/>
            <a:ext cx="3644947" cy="1615827"/>
          </a:xfrm>
          <a:prstGeom prst="rect">
            <a:avLst/>
          </a:prstGeom>
          <a:ln w="12700">
            <a:solidFill>
              <a:srgbClr val="6795F8"/>
            </a:solidFill>
          </a:ln>
        </p:spPr>
        <p:style>
          <a:lnRef idx="2">
            <a:schemeClr val="dk1"/>
          </a:lnRef>
          <a:fillRef idx="1">
            <a:schemeClr val="lt1"/>
          </a:fillRef>
          <a:effectRef idx="0">
            <a:schemeClr val="dk1"/>
          </a:effectRef>
          <a:fontRef idx="minor">
            <a:schemeClr val="dk1"/>
          </a:fontRef>
        </p:style>
        <p:txBody>
          <a:bodyPr wrap="square" anchor="t">
            <a:spAutoFit/>
          </a:bodyPr>
          <a:lstStyle/>
          <a:p>
            <a:r>
              <a:rPr lang="en-US" sz="900" dirty="0">
                <a:solidFill>
                  <a:srgbClr val="002060"/>
                </a:solidFill>
              </a:rPr>
              <a:t>The objective of this project is to analyze and visualize customer usage from Winnebago Connect™, a connected coach system launched in January 2024 with the refreshed View/Navion series. Winnebago Connect™ provides WMH with a proprietary stream of data showing how owners camp, travel, and interact with their motorhomes.</a:t>
            </a:r>
          </a:p>
          <a:p>
            <a:r>
              <a:rPr lang="en-US" sz="900" dirty="0">
                <a:solidFill>
                  <a:srgbClr val="002060"/>
                </a:solidFill>
              </a:rPr>
              <a:t>These insights help WMH understand whether customers are realizing the intended benefits of Winnebago Connect™, identify underused features, and uncover opportunities for product and service improvements. As these findings scale across additional motorhome series, they can support greater customer satisfaction, stronger adoption of premium services, and continued leadership in connected RV technology.</a:t>
            </a:r>
          </a:p>
        </p:txBody>
      </p:sp>
      <p:sp>
        <p:nvSpPr>
          <p:cNvPr id="24" name="Rectangle 23">
            <a:extLst>
              <a:ext uri="{FF2B5EF4-FFF2-40B4-BE49-F238E27FC236}">
                <a16:creationId xmlns:a16="http://schemas.microsoft.com/office/drawing/2014/main" id="{6B9AB65D-A1C1-C247-9594-99E7CBA1F4D6}"/>
              </a:ext>
            </a:extLst>
          </p:cNvPr>
          <p:cNvSpPr/>
          <p:nvPr/>
        </p:nvSpPr>
        <p:spPr>
          <a:xfrm>
            <a:off x="-1" y="6150"/>
            <a:ext cx="12191999" cy="3833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Winnebago Connect</a:t>
            </a:r>
          </a:p>
        </p:txBody>
      </p:sp>
      <p:sp>
        <p:nvSpPr>
          <p:cNvPr id="27" name="Title 1">
            <a:extLst>
              <a:ext uri="{FF2B5EF4-FFF2-40B4-BE49-F238E27FC236}">
                <a16:creationId xmlns:a16="http://schemas.microsoft.com/office/drawing/2014/main" id="{8F28AF30-5486-DB4E-AF9C-F74E8310B864}"/>
              </a:ext>
            </a:extLst>
          </p:cNvPr>
          <p:cNvSpPr txBox="1">
            <a:spLocks/>
          </p:cNvSpPr>
          <p:nvPr/>
        </p:nvSpPr>
        <p:spPr>
          <a:xfrm>
            <a:off x="3824729" y="542371"/>
            <a:ext cx="1927952" cy="220952"/>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400" b="1" dirty="0">
                <a:solidFill>
                  <a:srgbClr val="002060"/>
                </a:solidFill>
                <a:latin typeface="Calibri" panose="020F0502020204030204" pitchFamily="34" charset="0"/>
                <a:cs typeface="Calibri" panose="020F0502020204030204" pitchFamily="34" charset="0"/>
              </a:rPr>
              <a:t>4. Data Description</a:t>
            </a:r>
          </a:p>
        </p:txBody>
      </p:sp>
      <p:sp>
        <p:nvSpPr>
          <p:cNvPr id="29" name="Rectangle 28">
            <a:extLst>
              <a:ext uri="{FF2B5EF4-FFF2-40B4-BE49-F238E27FC236}">
                <a16:creationId xmlns:a16="http://schemas.microsoft.com/office/drawing/2014/main" id="{6ED08000-BF2C-4442-969D-D2B90805219A}"/>
              </a:ext>
            </a:extLst>
          </p:cNvPr>
          <p:cNvSpPr/>
          <p:nvPr/>
        </p:nvSpPr>
        <p:spPr>
          <a:xfrm rot="5400000">
            <a:off x="5814245" y="480244"/>
            <a:ext cx="563510" cy="121920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8C5074A6-C7E5-C54A-9B18-DEAE50393509}"/>
              </a:ext>
            </a:extLst>
          </p:cNvPr>
          <p:cNvSpPr/>
          <p:nvPr/>
        </p:nvSpPr>
        <p:spPr>
          <a:xfrm>
            <a:off x="9917318" y="27077"/>
            <a:ext cx="2274682" cy="35369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Group 2</a:t>
            </a:r>
          </a:p>
          <a:p>
            <a:pPr algn="ctr"/>
            <a:r>
              <a:rPr lang="en-US" sz="1000" dirty="0"/>
              <a:t>Anne, Jack, Emily, Mckenzie</a:t>
            </a:r>
          </a:p>
        </p:txBody>
      </p:sp>
      <p:cxnSp>
        <p:nvCxnSpPr>
          <p:cNvPr id="7" name="Straight Connector 6">
            <a:extLst>
              <a:ext uri="{FF2B5EF4-FFF2-40B4-BE49-F238E27FC236}">
                <a16:creationId xmlns:a16="http://schemas.microsoft.com/office/drawing/2014/main" id="{4D5231AD-C484-AE4A-8E08-7C201116B0D9}"/>
              </a:ext>
            </a:extLst>
          </p:cNvPr>
          <p:cNvCxnSpPr>
            <a:cxnSpLocks/>
          </p:cNvCxnSpPr>
          <p:nvPr/>
        </p:nvCxnSpPr>
        <p:spPr>
          <a:xfrm>
            <a:off x="3843405" y="784641"/>
            <a:ext cx="0" cy="5778146"/>
          </a:xfrm>
          <a:prstGeom prst="line">
            <a:avLst/>
          </a:prstGeom>
          <a:ln>
            <a:solidFill>
              <a:srgbClr val="6795F8"/>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E4B9BCF-B1D1-6E41-A409-78F733EFE9A9}"/>
              </a:ext>
            </a:extLst>
          </p:cNvPr>
          <p:cNvCxnSpPr>
            <a:cxnSpLocks/>
          </p:cNvCxnSpPr>
          <p:nvPr/>
        </p:nvCxnSpPr>
        <p:spPr>
          <a:xfrm>
            <a:off x="8388673" y="741196"/>
            <a:ext cx="0" cy="5778146"/>
          </a:xfrm>
          <a:prstGeom prst="line">
            <a:avLst/>
          </a:prstGeom>
          <a:ln>
            <a:solidFill>
              <a:srgbClr val="6795F8"/>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2AA03B8D-874D-E14F-8A73-43CC29B198BF}"/>
              </a:ext>
            </a:extLst>
          </p:cNvPr>
          <p:cNvSpPr txBox="1">
            <a:spLocks/>
          </p:cNvSpPr>
          <p:nvPr/>
        </p:nvSpPr>
        <p:spPr>
          <a:xfrm>
            <a:off x="8452549" y="557865"/>
            <a:ext cx="2394342" cy="206911"/>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ko-KR" sz="1400" b="1" dirty="0">
                <a:solidFill>
                  <a:srgbClr val="002060"/>
                </a:solidFill>
                <a:latin typeface="Calibri" panose="020F0502020204030204" pitchFamily="34" charset="0"/>
                <a:cs typeface="Calibri" panose="020F0502020204030204" pitchFamily="34" charset="0"/>
              </a:rPr>
              <a:t>6.</a:t>
            </a:r>
            <a:r>
              <a:rPr lang="ko-KR" altLang="en-US" sz="1400" b="1" dirty="0">
                <a:solidFill>
                  <a:srgbClr val="002060"/>
                </a:solidFill>
                <a:latin typeface="Calibri" panose="020F0502020204030204" pitchFamily="34" charset="0"/>
                <a:cs typeface="Calibri" panose="020F0502020204030204" pitchFamily="34" charset="0"/>
              </a:rPr>
              <a:t> </a:t>
            </a:r>
            <a:r>
              <a:rPr lang="en-US" altLang="ko-KR" sz="1400" b="1" dirty="0">
                <a:solidFill>
                  <a:srgbClr val="002060"/>
                </a:solidFill>
                <a:latin typeface="Calibri" panose="020F0502020204030204" pitchFamily="34" charset="0"/>
                <a:cs typeface="Calibri" panose="020F0502020204030204" pitchFamily="34" charset="0"/>
              </a:rPr>
              <a:t>Business Recommendation</a:t>
            </a:r>
            <a:endParaRPr lang="en-US" sz="1400" b="1" dirty="0">
              <a:solidFill>
                <a:srgbClr val="002060"/>
              </a:solidFill>
              <a:latin typeface="Calibri" panose="020F0502020204030204" pitchFamily="34" charset="0"/>
              <a:cs typeface="Calibri" panose="020F0502020204030204" pitchFamily="34" charset="0"/>
            </a:endParaRPr>
          </a:p>
        </p:txBody>
      </p:sp>
      <p:sp>
        <p:nvSpPr>
          <p:cNvPr id="9" name="Title 1">
            <a:extLst>
              <a:ext uri="{FF2B5EF4-FFF2-40B4-BE49-F238E27FC236}">
                <a16:creationId xmlns:a16="http://schemas.microsoft.com/office/drawing/2014/main" id="{F9ECCBEA-6547-4F32-8A9B-7074C0553026}"/>
              </a:ext>
            </a:extLst>
          </p:cNvPr>
          <p:cNvSpPr txBox="1">
            <a:spLocks/>
          </p:cNvSpPr>
          <p:nvPr/>
        </p:nvSpPr>
        <p:spPr>
          <a:xfrm>
            <a:off x="65328" y="2423733"/>
            <a:ext cx="2700338" cy="220662"/>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1400" b="1" dirty="0">
                <a:solidFill>
                  <a:srgbClr val="002060"/>
                </a:solidFill>
                <a:latin typeface="Calibri" panose="020F0502020204030204" pitchFamily="34" charset="0"/>
                <a:cs typeface="Calibri" panose="020F0502020204030204" pitchFamily="34" charset="0"/>
              </a:rPr>
              <a:t>2. Assumptions and Challenges </a:t>
            </a:r>
          </a:p>
        </p:txBody>
      </p:sp>
      <p:sp>
        <p:nvSpPr>
          <p:cNvPr id="33" name="Title 1">
            <a:extLst>
              <a:ext uri="{FF2B5EF4-FFF2-40B4-BE49-F238E27FC236}">
                <a16:creationId xmlns:a16="http://schemas.microsoft.com/office/drawing/2014/main" id="{609679A4-D0F2-4DBE-86B5-7DE048EB2ABD}"/>
              </a:ext>
            </a:extLst>
          </p:cNvPr>
          <p:cNvSpPr txBox="1">
            <a:spLocks/>
          </p:cNvSpPr>
          <p:nvPr/>
        </p:nvSpPr>
        <p:spPr>
          <a:xfrm>
            <a:off x="16441" y="5261638"/>
            <a:ext cx="2700338" cy="220662"/>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1400" b="1" dirty="0">
                <a:solidFill>
                  <a:srgbClr val="002060"/>
                </a:solidFill>
                <a:latin typeface="Calibri" panose="020F0502020204030204" pitchFamily="34" charset="0"/>
                <a:cs typeface="Calibri" panose="020F0502020204030204" pitchFamily="34" charset="0"/>
              </a:rPr>
              <a:t>3. Methodology </a:t>
            </a:r>
          </a:p>
        </p:txBody>
      </p:sp>
      <p:sp>
        <p:nvSpPr>
          <p:cNvPr id="42" name="Title 1">
            <a:extLst>
              <a:ext uri="{FF2B5EF4-FFF2-40B4-BE49-F238E27FC236}">
                <a16:creationId xmlns:a16="http://schemas.microsoft.com/office/drawing/2014/main" id="{F48BCD3D-A1DE-472E-8BB5-9907BF4F743B}"/>
              </a:ext>
            </a:extLst>
          </p:cNvPr>
          <p:cNvSpPr txBox="1">
            <a:spLocks/>
          </p:cNvSpPr>
          <p:nvPr/>
        </p:nvSpPr>
        <p:spPr>
          <a:xfrm>
            <a:off x="3906431" y="3243113"/>
            <a:ext cx="2800788" cy="220952"/>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400" b="1" dirty="0">
                <a:solidFill>
                  <a:srgbClr val="002060"/>
                </a:solidFill>
                <a:latin typeface="Calibri" panose="020F0502020204030204" pitchFamily="34" charset="0"/>
                <a:cs typeface="Calibri" panose="020F0502020204030204" pitchFamily="34" charset="0"/>
              </a:rPr>
              <a:t>5. Sample Deliverables</a:t>
            </a:r>
          </a:p>
        </p:txBody>
      </p:sp>
      <p:sp>
        <p:nvSpPr>
          <p:cNvPr id="13" name="Rectangle 12">
            <a:extLst>
              <a:ext uri="{FF2B5EF4-FFF2-40B4-BE49-F238E27FC236}">
                <a16:creationId xmlns:a16="http://schemas.microsoft.com/office/drawing/2014/main" id="{BC2398C0-2935-0633-991D-66263F2A4FE6}"/>
              </a:ext>
            </a:extLst>
          </p:cNvPr>
          <p:cNvSpPr/>
          <p:nvPr/>
        </p:nvSpPr>
        <p:spPr>
          <a:xfrm>
            <a:off x="9917318" y="-13870"/>
            <a:ext cx="98652" cy="4234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393EB6C-CE5A-077C-B068-F0888B7CABE4}"/>
              </a:ext>
            </a:extLst>
          </p:cNvPr>
          <p:cNvSpPr txBox="1"/>
          <p:nvPr/>
        </p:nvSpPr>
        <p:spPr>
          <a:xfrm>
            <a:off x="62248" y="5482300"/>
            <a:ext cx="3711234" cy="1338828"/>
          </a:xfrm>
          <a:prstGeom prst="rect">
            <a:avLst/>
          </a:prstGeom>
          <a:noFill/>
          <a:ln w="12700">
            <a:solidFill>
              <a:srgbClr val="6795F8"/>
            </a:solidFill>
          </a:ln>
        </p:spPr>
        <p:txBody>
          <a:bodyPr wrap="square">
            <a:spAutoFit/>
          </a:bodyPr>
          <a:lstStyle/>
          <a:p>
            <a:r>
              <a:rPr lang="en-US" sz="900" dirty="0">
                <a:solidFill>
                  <a:srgbClr val="002060"/>
                </a:solidFill>
              </a:rPr>
              <a:t>Power BI was chosen as the primary tool for data cleaning, modeling, and visualization. The datasets provided by WMH in Excel format were imported and connected using VIN and Date as key relationships. We created calculated columns and measures to classify camping and travel behavior, aggregate power consumption, and track feature usage. Logic was implemented through DAX formulas to unify lighting activity, combine power sources, and build daily summary tables. These measures feed into interactive dashboard pages that display camping, boondocking, travel, power, alerts, and command usage trends.</a:t>
            </a:r>
          </a:p>
        </p:txBody>
      </p:sp>
      <p:sp>
        <p:nvSpPr>
          <p:cNvPr id="26" name="TextBox 25">
            <a:extLst>
              <a:ext uri="{FF2B5EF4-FFF2-40B4-BE49-F238E27FC236}">
                <a16:creationId xmlns:a16="http://schemas.microsoft.com/office/drawing/2014/main" id="{E8C1F558-6381-CC44-25E6-35EB0BFDFF67}"/>
              </a:ext>
            </a:extLst>
          </p:cNvPr>
          <p:cNvSpPr txBox="1"/>
          <p:nvPr/>
        </p:nvSpPr>
        <p:spPr>
          <a:xfrm>
            <a:off x="53323" y="2676812"/>
            <a:ext cx="3688134" cy="2585323"/>
          </a:xfrm>
          <a:prstGeom prst="rect">
            <a:avLst/>
          </a:prstGeom>
          <a:noFill/>
          <a:ln w="12700">
            <a:solidFill>
              <a:srgbClr val="6795F8"/>
            </a:solidFill>
          </a:ln>
        </p:spPr>
        <p:txBody>
          <a:bodyPr wrap="square">
            <a:spAutoFit/>
          </a:bodyPr>
          <a:lstStyle/>
          <a:p>
            <a:r>
              <a:rPr lang="en-US" sz="900" b="1" dirty="0">
                <a:solidFill>
                  <a:srgbClr val="002060"/>
                </a:solidFill>
              </a:rPr>
              <a:t>Assumptions</a:t>
            </a:r>
          </a:p>
          <a:p>
            <a:pPr marL="171450" indent="-171450">
              <a:buFont typeface="Arial" panose="020B0604020202020204" pitchFamily="34" charset="0"/>
              <a:buChar char="•"/>
            </a:pPr>
            <a:r>
              <a:rPr lang="en-US" sz="900" dirty="0">
                <a:solidFill>
                  <a:srgbClr val="002060"/>
                </a:solidFill>
              </a:rPr>
              <a:t>VIN and Date fields serve as reliable keys to connect all datasets.</a:t>
            </a:r>
          </a:p>
          <a:p>
            <a:pPr marL="171450" indent="-171450">
              <a:buFont typeface="Arial" panose="020B0604020202020204" pitchFamily="34" charset="0"/>
              <a:buChar char="•"/>
            </a:pPr>
            <a:r>
              <a:rPr lang="en-US" sz="900" dirty="0">
                <a:solidFill>
                  <a:srgbClr val="002060"/>
                </a:solidFill>
              </a:rPr>
              <a:t>Telemetry data (power, lighting, HVAC, generator) accurately reflects daily coach activity.</a:t>
            </a:r>
          </a:p>
          <a:p>
            <a:pPr marL="171450" indent="-171450">
              <a:buFont typeface="Arial" panose="020B0604020202020204" pitchFamily="34" charset="0"/>
              <a:buChar char="•"/>
            </a:pPr>
            <a:r>
              <a:rPr lang="en-US" sz="900" dirty="0">
                <a:solidFill>
                  <a:srgbClr val="002060"/>
                </a:solidFill>
              </a:rPr>
              <a:t>GPS changes greater than 5 miles are a proxy for identifying travel days.</a:t>
            </a:r>
          </a:p>
          <a:p>
            <a:pPr marL="171450" indent="-171450">
              <a:buFont typeface="Arial" panose="020B0604020202020204" pitchFamily="34" charset="0"/>
              <a:buChar char="•"/>
            </a:pPr>
            <a:r>
              <a:rPr lang="en-US" sz="900" dirty="0">
                <a:solidFill>
                  <a:srgbClr val="002060"/>
                </a:solidFill>
              </a:rPr>
              <a:t>Lighting activity is a dependable indicator of occupancy/camping</a:t>
            </a:r>
          </a:p>
          <a:p>
            <a:r>
              <a:rPr lang="en-US" sz="900" b="1" dirty="0">
                <a:solidFill>
                  <a:srgbClr val="002060"/>
                </a:solidFill>
              </a:rPr>
              <a:t>Challenges</a:t>
            </a:r>
          </a:p>
          <a:p>
            <a:pPr marL="171450" indent="-171450">
              <a:buFont typeface="Arial" panose="020B0604020202020204" pitchFamily="34" charset="0"/>
              <a:buChar char="•"/>
            </a:pPr>
            <a:r>
              <a:rPr lang="en-US" sz="900" dirty="0">
                <a:solidFill>
                  <a:srgbClr val="002060"/>
                </a:solidFill>
              </a:rPr>
              <a:t>Complex joins across VINs risked misreporting and double counting; solved with consistent VIN/Date keys.</a:t>
            </a:r>
          </a:p>
          <a:p>
            <a:pPr marL="171450" indent="-171450">
              <a:buFont typeface="Arial" panose="020B0604020202020204" pitchFamily="34" charset="0"/>
              <a:buChar char="•"/>
            </a:pPr>
            <a:r>
              <a:rPr lang="en-US" sz="900" dirty="0">
                <a:solidFill>
                  <a:srgbClr val="002060"/>
                </a:solidFill>
              </a:rPr>
              <a:t>Precision in calculations was critical to build trust with stakeholders; addressed through iterative DAX testing and validation.</a:t>
            </a:r>
          </a:p>
          <a:p>
            <a:pPr marL="171450" indent="-171450">
              <a:buFont typeface="Arial" panose="020B0604020202020204" pitchFamily="34" charset="0"/>
              <a:buChar char="•"/>
            </a:pPr>
            <a:r>
              <a:rPr lang="en-US" sz="900" dirty="0">
                <a:solidFill>
                  <a:srgbClr val="002060"/>
                </a:solidFill>
              </a:rPr>
              <a:t>Classification accuracy for camping vs. boondocking required clear rules and sponsor feedback to avoid misleading insights.</a:t>
            </a:r>
          </a:p>
          <a:p>
            <a:pPr marL="171450" indent="-171450">
              <a:buFont typeface="Arial" panose="020B0604020202020204" pitchFamily="34" charset="0"/>
              <a:buChar char="•"/>
            </a:pPr>
            <a:r>
              <a:rPr lang="en-US" sz="900" dirty="0">
                <a:solidFill>
                  <a:srgbClr val="002060"/>
                </a:solidFill>
              </a:rPr>
              <a:t>Dashboard clarity demanded balancing technical depth with intuitive visuals, ensuring non‑technical users could interpret results.</a:t>
            </a:r>
          </a:p>
          <a:p>
            <a:pPr marL="171450" indent="-171450">
              <a:buFont typeface="Arial" panose="020B0604020202020204" pitchFamily="34" charset="0"/>
              <a:buChar char="•"/>
            </a:pPr>
            <a:r>
              <a:rPr lang="en-US" sz="900" dirty="0">
                <a:solidFill>
                  <a:srgbClr val="002060"/>
                </a:solidFill>
              </a:rPr>
              <a:t>Collaboration hurdles arose from multiple datasets and evolving requirements; managed through agile refinement and frequent reviews with the Winnebago team.</a:t>
            </a:r>
          </a:p>
        </p:txBody>
      </p:sp>
      <p:sp>
        <p:nvSpPr>
          <p:cNvPr id="31" name="TextBox 30">
            <a:extLst>
              <a:ext uri="{FF2B5EF4-FFF2-40B4-BE49-F238E27FC236}">
                <a16:creationId xmlns:a16="http://schemas.microsoft.com/office/drawing/2014/main" id="{970CBD56-BB57-5428-086A-1B22B21EB903}"/>
              </a:ext>
            </a:extLst>
          </p:cNvPr>
          <p:cNvSpPr txBox="1"/>
          <p:nvPr/>
        </p:nvSpPr>
        <p:spPr>
          <a:xfrm>
            <a:off x="3906431" y="771676"/>
            <a:ext cx="4389376" cy="784830"/>
          </a:xfrm>
          <a:prstGeom prst="rect">
            <a:avLst/>
          </a:prstGeom>
          <a:noFill/>
          <a:ln w="12700">
            <a:solidFill>
              <a:srgbClr val="6795F8"/>
            </a:solidFill>
          </a:ln>
        </p:spPr>
        <p:txBody>
          <a:bodyPr wrap="square">
            <a:spAutoFit/>
          </a:bodyPr>
          <a:lstStyle/>
          <a:p>
            <a:r>
              <a:rPr lang="en-US" sz="900" dirty="0">
                <a:solidFill>
                  <a:srgbClr val="002060"/>
                </a:solidFill>
              </a:rPr>
              <a:t>The datasets provided by Winnebago include thousands of daily records across telemetry, GPS, alerts, and command activity. Outliers such as extreme GPS jumps or anomalous power spikes were removed to improve accuracy. The median and mean values of camping days, travel distances, and power usage have remained consistent across VINs, providing a reliable foundation for customer behavior analysis.</a:t>
            </a:r>
          </a:p>
        </p:txBody>
      </p:sp>
      <p:sp>
        <p:nvSpPr>
          <p:cNvPr id="44" name="TextBox 43">
            <a:extLst>
              <a:ext uri="{FF2B5EF4-FFF2-40B4-BE49-F238E27FC236}">
                <a16:creationId xmlns:a16="http://schemas.microsoft.com/office/drawing/2014/main" id="{265FB29F-DC6A-E3BF-9B81-A7C6A8470907}"/>
              </a:ext>
            </a:extLst>
          </p:cNvPr>
          <p:cNvSpPr txBox="1"/>
          <p:nvPr/>
        </p:nvSpPr>
        <p:spPr>
          <a:xfrm>
            <a:off x="8452549" y="771676"/>
            <a:ext cx="3626116" cy="2723823"/>
          </a:xfrm>
          <a:prstGeom prst="rect">
            <a:avLst/>
          </a:prstGeom>
          <a:noFill/>
          <a:ln w="12700">
            <a:solidFill>
              <a:srgbClr val="6795F8"/>
            </a:solidFill>
          </a:ln>
        </p:spPr>
        <p:txBody>
          <a:bodyPr wrap="square" rtlCol="0">
            <a:spAutoFit/>
          </a:bodyPr>
          <a:lstStyle/>
          <a:p>
            <a:r>
              <a:rPr lang="en-US" sz="900" b="1" dirty="0">
                <a:solidFill>
                  <a:srgbClr val="002060"/>
                </a:solidFill>
              </a:rPr>
              <a:t>Enhance Customer Experience</a:t>
            </a:r>
            <a:r>
              <a:rPr lang="en-US" sz="900" dirty="0">
                <a:solidFill>
                  <a:srgbClr val="002060"/>
                </a:solidFill>
              </a:rPr>
              <a:t> → Use camping and boondocking insights to tailor service packages (e.g., off‑grid support for frequent </a:t>
            </a:r>
            <a:r>
              <a:rPr lang="en-US" sz="900" dirty="0" err="1">
                <a:solidFill>
                  <a:srgbClr val="002060"/>
                </a:solidFill>
              </a:rPr>
              <a:t>boondockers</a:t>
            </a:r>
            <a:r>
              <a:rPr lang="en-US" sz="900" dirty="0">
                <a:solidFill>
                  <a:srgbClr val="002060"/>
                </a:solidFill>
              </a:rPr>
              <a:t>).</a:t>
            </a:r>
          </a:p>
          <a:p>
            <a:endParaRPr lang="en-US" sz="900" b="1" dirty="0">
              <a:solidFill>
                <a:srgbClr val="002060"/>
              </a:solidFill>
            </a:endParaRPr>
          </a:p>
          <a:p>
            <a:r>
              <a:rPr lang="en-US" sz="900" b="1" dirty="0">
                <a:solidFill>
                  <a:srgbClr val="002060"/>
                </a:solidFill>
              </a:rPr>
              <a:t>Optimize Product Design</a:t>
            </a:r>
            <a:r>
              <a:rPr lang="en-US" sz="900" dirty="0">
                <a:solidFill>
                  <a:srgbClr val="002060"/>
                </a:solidFill>
              </a:rPr>
              <a:t> → Incorporate generator and power usage trends into future motorhome models to improve efficiency.</a:t>
            </a:r>
          </a:p>
          <a:p>
            <a:endParaRPr lang="en-US" sz="900" b="1" dirty="0">
              <a:solidFill>
                <a:srgbClr val="002060"/>
              </a:solidFill>
            </a:endParaRPr>
          </a:p>
          <a:p>
            <a:r>
              <a:rPr lang="en-US" sz="900" b="1" dirty="0">
                <a:solidFill>
                  <a:srgbClr val="002060"/>
                </a:solidFill>
              </a:rPr>
              <a:t>Targeted Feature Development</a:t>
            </a:r>
            <a:r>
              <a:rPr lang="en-US" sz="900" dirty="0">
                <a:solidFill>
                  <a:srgbClr val="002060"/>
                </a:solidFill>
              </a:rPr>
              <a:t> → Expand adoption of underused features (e.g., Pet Minder, awning controls) through education and marketing.</a:t>
            </a:r>
          </a:p>
          <a:p>
            <a:endParaRPr lang="en-US" sz="900" b="1" dirty="0">
              <a:solidFill>
                <a:srgbClr val="002060"/>
              </a:solidFill>
            </a:endParaRPr>
          </a:p>
          <a:p>
            <a:r>
              <a:rPr lang="en-US" sz="900" b="1" dirty="0">
                <a:solidFill>
                  <a:srgbClr val="002060"/>
                </a:solidFill>
              </a:rPr>
              <a:t>Proactive Maintenance</a:t>
            </a:r>
            <a:r>
              <a:rPr lang="en-US" sz="900" dirty="0">
                <a:solidFill>
                  <a:srgbClr val="002060"/>
                </a:solidFill>
              </a:rPr>
              <a:t> → Leverage alert patterns to identify common issues and reduce service costs with preventive solutions.</a:t>
            </a:r>
          </a:p>
          <a:p>
            <a:endParaRPr lang="en-US" sz="900" b="1" dirty="0">
              <a:solidFill>
                <a:srgbClr val="002060"/>
              </a:solidFill>
            </a:endParaRPr>
          </a:p>
          <a:p>
            <a:r>
              <a:rPr lang="en-US" sz="900" b="1" dirty="0">
                <a:solidFill>
                  <a:srgbClr val="002060"/>
                </a:solidFill>
              </a:rPr>
              <a:t>Data‑Driven Marketing</a:t>
            </a:r>
            <a:r>
              <a:rPr lang="en-US" sz="900" dirty="0">
                <a:solidFill>
                  <a:srgbClr val="002060"/>
                </a:solidFill>
              </a:rPr>
              <a:t> → Segment customers by travel and camping behavior to personalize promotions and loyalty programs.</a:t>
            </a:r>
          </a:p>
          <a:p>
            <a:endParaRPr lang="en-US" sz="900" b="1" dirty="0">
              <a:solidFill>
                <a:srgbClr val="002060"/>
              </a:solidFill>
            </a:endParaRPr>
          </a:p>
          <a:p>
            <a:r>
              <a:rPr lang="en-US" sz="900" b="1" dirty="0">
                <a:solidFill>
                  <a:srgbClr val="002060"/>
                </a:solidFill>
              </a:rPr>
              <a:t>Continuous Improvement</a:t>
            </a:r>
            <a:r>
              <a:rPr lang="en-US" sz="900" dirty="0">
                <a:solidFill>
                  <a:srgbClr val="002060"/>
                </a:solidFill>
              </a:rPr>
              <a:t> → Use dashboard feedback loops to refine metrics and ensure alignment with evolving customer needs.</a:t>
            </a:r>
          </a:p>
        </p:txBody>
      </p:sp>
      <p:sp>
        <p:nvSpPr>
          <p:cNvPr id="50" name="TextBox 49">
            <a:extLst>
              <a:ext uri="{FF2B5EF4-FFF2-40B4-BE49-F238E27FC236}">
                <a16:creationId xmlns:a16="http://schemas.microsoft.com/office/drawing/2014/main" id="{9B7E6CED-4110-D329-29EF-E6B89ED9267B}"/>
              </a:ext>
            </a:extLst>
          </p:cNvPr>
          <p:cNvSpPr txBox="1"/>
          <p:nvPr/>
        </p:nvSpPr>
        <p:spPr>
          <a:xfrm>
            <a:off x="8452549" y="3816176"/>
            <a:ext cx="3739451" cy="2862322"/>
          </a:xfrm>
          <a:prstGeom prst="rect">
            <a:avLst/>
          </a:prstGeom>
          <a:noFill/>
        </p:spPr>
        <p:txBody>
          <a:bodyPr wrap="square" rtlCol="0">
            <a:spAutoFit/>
          </a:bodyPr>
          <a:lstStyle/>
          <a:p>
            <a:r>
              <a:rPr lang="en-US" sz="900" b="1" dirty="0">
                <a:solidFill>
                  <a:srgbClr val="002060"/>
                </a:solidFill>
              </a:rPr>
              <a:t>VIN &amp; Date Keys</a:t>
            </a:r>
          </a:p>
          <a:p>
            <a:r>
              <a:rPr lang="en-US" sz="900" dirty="0">
                <a:solidFill>
                  <a:srgbClr val="002060"/>
                </a:solidFill>
              </a:rPr>
              <a:t>VIN and Date fields serve as the primary connectors across telemetry, GPS, alerts, and command tables. This ensures accurate aggregation of daily usage patterns and prevents misreporting across vehicles.</a:t>
            </a:r>
          </a:p>
          <a:p>
            <a:endParaRPr lang="en-US" sz="900" b="1" dirty="0">
              <a:solidFill>
                <a:srgbClr val="002060"/>
              </a:solidFill>
            </a:endParaRPr>
          </a:p>
          <a:p>
            <a:r>
              <a:rPr lang="en-US" sz="900" b="1" dirty="0">
                <a:solidFill>
                  <a:srgbClr val="002060"/>
                </a:solidFill>
              </a:rPr>
              <a:t>Camping Classification Logic</a:t>
            </a:r>
          </a:p>
          <a:p>
            <a:r>
              <a:rPr lang="en-US" sz="900" dirty="0">
                <a:solidFill>
                  <a:srgbClr val="002060"/>
                </a:solidFill>
              </a:rPr>
              <a:t>Daily activity is categorized into </a:t>
            </a:r>
            <a:r>
              <a:rPr lang="en-US" sz="900" i="1" dirty="0">
                <a:solidFill>
                  <a:srgbClr val="002060"/>
                </a:solidFill>
              </a:rPr>
              <a:t>Camping</a:t>
            </a:r>
            <a:r>
              <a:rPr lang="en-US" sz="900" dirty="0">
                <a:solidFill>
                  <a:srgbClr val="002060"/>
                </a:solidFill>
              </a:rPr>
              <a:t>, </a:t>
            </a:r>
            <a:r>
              <a:rPr lang="en-US" sz="900" i="1" dirty="0">
                <a:solidFill>
                  <a:srgbClr val="002060"/>
                </a:solidFill>
              </a:rPr>
              <a:t>Boondocking</a:t>
            </a:r>
            <a:r>
              <a:rPr lang="en-US" sz="900" dirty="0">
                <a:solidFill>
                  <a:srgbClr val="002060"/>
                </a:solidFill>
              </a:rPr>
              <a:t>, or </a:t>
            </a:r>
            <a:r>
              <a:rPr lang="en-US" sz="900" i="1" dirty="0">
                <a:solidFill>
                  <a:srgbClr val="002060"/>
                </a:solidFill>
              </a:rPr>
              <a:t>Not Camping</a:t>
            </a:r>
            <a:r>
              <a:rPr lang="en-US" sz="900" dirty="0">
                <a:solidFill>
                  <a:srgbClr val="002060"/>
                </a:solidFill>
              </a:rPr>
              <a:t> using power thresholds, lighting activity, and shore power detection. This logic aligns with Winnebago’s specifications for customer behavior.</a:t>
            </a:r>
          </a:p>
          <a:p>
            <a:endParaRPr lang="en-US" sz="900" b="1" dirty="0">
              <a:solidFill>
                <a:srgbClr val="002060"/>
              </a:solidFill>
            </a:endParaRPr>
          </a:p>
          <a:p>
            <a:r>
              <a:rPr lang="en-US" sz="900" b="1" dirty="0">
                <a:solidFill>
                  <a:srgbClr val="002060"/>
                </a:solidFill>
              </a:rPr>
              <a:t>Power Source Rollup</a:t>
            </a:r>
          </a:p>
          <a:p>
            <a:r>
              <a:rPr lang="en-US" sz="900" dirty="0">
                <a:solidFill>
                  <a:srgbClr val="002060"/>
                </a:solidFill>
              </a:rPr>
              <a:t>Shore, solar, generator, and alternator watts are combined into a single measure of total power. This unified metric enables consistent comparisons of energy usage across different camping types.</a:t>
            </a:r>
          </a:p>
          <a:p>
            <a:endParaRPr lang="en-US" sz="900" b="1" dirty="0">
              <a:solidFill>
                <a:srgbClr val="002060"/>
              </a:solidFill>
            </a:endParaRPr>
          </a:p>
          <a:p>
            <a:r>
              <a:rPr lang="en-US" sz="900" b="1" dirty="0">
                <a:solidFill>
                  <a:srgbClr val="002060"/>
                </a:solidFill>
              </a:rPr>
              <a:t>Pet Minder Data</a:t>
            </a:r>
          </a:p>
          <a:p>
            <a:r>
              <a:rPr lang="en-US" sz="900" dirty="0">
                <a:solidFill>
                  <a:srgbClr val="002060"/>
                </a:solidFill>
              </a:rPr>
              <a:t>Alerts related to RV temperature comfort are flagged as Pet Minder events. These records allow analysis of how often the feature is enabled, its duration, and its relationship to camping and travel conditions.</a:t>
            </a:r>
          </a:p>
          <a:p>
            <a:endParaRPr lang="en-US" sz="900" dirty="0">
              <a:solidFill>
                <a:srgbClr val="002060"/>
              </a:solidFill>
            </a:endParaRPr>
          </a:p>
        </p:txBody>
      </p:sp>
      <p:sp>
        <p:nvSpPr>
          <p:cNvPr id="52" name="TextBox 51">
            <a:extLst>
              <a:ext uri="{FF2B5EF4-FFF2-40B4-BE49-F238E27FC236}">
                <a16:creationId xmlns:a16="http://schemas.microsoft.com/office/drawing/2014/main" id="{D97E06EB-85DE-D4A6-E7FA-655BEA218203}"/>
              </a:ext>
            </a:extLst>
          </p:cNvPr>
          <p:cNvSpPr txBox="1"/>
          <p:nvPr/>
        </p:nvSpPr>
        <p:spPr>
          <a:xfrm>
            <a:off x="8388673" y="3537162"/>
            <a:ext cx="6105832" cy="307777"/>
          </a:xfrm>
          <a:prstGeom prst="rect">
            <a:avLst/>
          </a:prstGeom>
          <a:noFill/>
        </p:spPr>
        <p:txBody>
          <a:bodyPr wrap="square">
            <a:spAutoFit/>
          </a:bodyPr>
          <a:lstStyle/>
          <a:p>
            <a:r>
              <a:rPr lang="en-US" altLang="ko-KR" sz="1400" b="1" dirty="0">
                <a:solidFill>
                  <a:srgbClr val="002060"/>
                </a:solidFill>
                <a:latin typeface="Calibri" panose="020F0502020204030204" pitchFamily="34" charset="0"/>
                <a:cs typeface="Calibri" panose="020F0502020204030204" pitchFamily="34" charset="0"/>
              </a:rPr>
              <a:t>Important Variables</a:t>
            </a:r>
            <a:endParaRPr lang="en-US" sz="1400" b="1" dirty="0">
              <a:solidFill>
                <a:srgbClr val="002060"/>
              </a:solidFill>
              <a:latin typeface="Calibri" panose="020F0502020204030204" pitchFamily="34" charset="0"/>
              <a:cs typeface="Calibri" panose="020F0502020204030204" pitchFamily="34" charset="0"/>
            </a:endParaRPr>
          </a:p>
        </p:txBody>
      </p:sp>
      <p:cxnSp>
        <p:nvCxnSpPr>
          <p:cNvPr id="54" name="Straight Connector 53">
            <a:extLst>
              <a:ext uri="{FF2B5EF4-FFF2-40B4-BE49-F238E27FC236}">
                <a16:creationId xmlns:a16="http://schemas.microsoft.com/office/drawing/2014/main" id="{46CFF065-E7FE-E3D3-514E-E0D111313A01}"/>
              </a:ext>
            </a:extLst>
          </p:cNvPr>
          <p:cNvCxnSpPr/>
          <p:nvPr/>
        </p:nvCxnSpPr>
        <p:spPr>
          <a:xfrm>
            <a:off x="8543636" y="4470400"/>
            <a:ext cx="3426691" cy="0"/>
          </a:xfrm>
          <a:prstGeom prst="line">
            <a:avLst/>
          </a:prstGeom>
          <a:ln>
            <a:solidFill>
              <a:srgbClr val="6795F8"/>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FEDE15F-8F5A-AED4-FD6D-59C533F26B05}"/>
              </a:ext>
            </a:extLst>
          </p:cNvPr>
          <p:cNvCxnSpPr/>
          <p:nvPr/>
        </p:nvCxnSpPr>
        <p:spPr>
          <a:xfrm>
            <a:off x="8552261" y="5158510"/>
            <a:ext cx="3426691" cy="0"/>
          </a:xfrm>
          <a:prstGeom prst="line">
            <a:avLst/>
          </a:prstGeom>
          <a:ln>
            <a:solidFill>
              <a:srgbClr val="6795F8"/>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17A17BD-75B2-DA89-C83F-6DBB6F2B52DD}"/>
              </a:ext>
            </a:extLst>
          </p:cNvPr>
          <p:cNvCxnSpPr/>
          <p:nvPr/>
        </p:nvCxnSpPr>
        <p:spPr>
          <a:xfrm>
            <a:off x="8552261" y="5855856"/>
            <a:ext cx="3426691" cy="0"/>
          </a:xfrm>
          <a:prstGeom prst="line">
            <a:avLst/>
          </a:prstGeom>
          <a:ln>
            <a:solidFill>
              <a:srgbClr val="6795F8"/>
            </a:solidFill>
            <a:prstDash val="sysDot"/>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908D9759-78D1-C66B-3F9C-273EAD12C22B}"/>
              </a:ext>
            </a:extLst>
          </p:cNvPr>
          <p:cNvSpPr txBox="1"/>
          <p:nvPr/>
        </p:nvSpPr>
        <p:spPr>
          <a:xfrm>
            <a:off x="3928531" y="1843808"/>
            <a:ext cx="1269389" cy="1061829"/>
          </a:xfrm>
          <a:prstGeom prst="rect">
            <a:avLst/>
          </a:prstGeom>
          <a:noFill/>
          <a:ln>
            <a:solidFill>
              <a:srgbClr val="6795F8"/>
            </a:solidFill>
            <a:prstDash val="lgDash"/>
          </a:ln>
        </p:spPr>
        <p:txBody>
          <a:bodyPr wrap="square" rtlCol="0">
            <a:spAutoFit/>
          </a:bodyPr>
          <a:lstStyle/>
          <a:p>
            <a:pPr algn="ctr"/>
            <a:r>
              <a:rPr lang="en-US" sz="900" b="1" dirty="0">
                <a:solidFill>
                  <a:srgbClr val="002060"/>
                </a:solidFill>
              </a:rPr>
              <a:t>Raw Excel Datasets:</a:t>
            </a:r>
          </a:p>
          <a:p>
            <a:pPr algn="ctr"/>
            <a:r>
              <a:rPr lang="en-US" sz="900" dirty="0" err="1">
                <a:solidFill>
                  <a:srgbClr val="002060"/>
                </a:solidFill>
              </a:rPr>
              <a:t>Telementry</a:t>
            </a:r>
            <a:endParaRPr lang="en-US" sz="900" dirty="0">
              <a:solidFill>
                <a:srgbClr val="002060"/>
              </a:solidFill>
            </a:endParaRPr>
          </a:p>
          <a:p>
            <a:pPr algn="ctr"/>
            <a:r>
              <a:rPr lang="en-US" sz="900" dirty="0">
                <a:solidFill>
                  <a:srgbClr val="002060"/>
                </a:solidFill>
              </a:rPr>
              <a:t>Geo</a:t>
            </a:r>
          </a:p>
          <a:p>
            <a:pPr algn="ctr"/>
            <a:r>
              <a:rPr lang="en-US" sz="900" dirty="0">
                <a:solidFill>
                  <a:srgbClr val="002060"/>
                </a:solidFill>
              </a:rPr>
              <a:t>Alerts</a:t>
            </a:r>
          </a:p>
          <a:p>
            <a:pPr algn="ctr"/>
            <a:r>
              <a:rPr lang="en-US" sz="900" dirty="0">
                <a:solidFill>
                  <a:srgbClr val="002060"/>
                </a:solidFill>
              </a:rPr>
              <a:t>Requests</a:t>
            </a:r>
          </a:p>
          <a:p>
            <a:pPr algn="ctr"/>
            <a:r>
              <a:rPr lang="en-US" sz="900" dirty="0">
                <a:solidFill>
                  <a:srgbClr val="002060"/>
                </a:solidFill>
              </a:rPr>
              <a:t>VIN/Owner</a:t>
            </a:r>
          </a:p>
          <a:p>
            <a:pPr algn="ctr"/>
            <a:r>
              <a:rPr lang="en-US" sz="900" dirty="0">
                <a:solidFill>
                  <a:srgbClr val="002060"/>
                </a:solidFill>
              </a:rPr>
              <a:t>Date</a:t>
            </a:r>
          </a:p>
        </p:txBody>
      </p:sp>
      <p:cxnSp>
        <p:nvCxnSpPr>
          <p:cNvPr id="61" name="Straight Arrow Connector 60">
            <a:extLst>
              <a:ext uri="{FF2B5EF4-FFF2-40B4-BE49-F238E27FC236}">
                <a16:creationId xmlns:a16="http://schemas.microsoft.com/office/drawing/2014/main" id="{747FA0F3-D8F6-8BD7-CA12-752CA20D7E68}"/>
              </a:ext>
            </a:extLst>
          </p:cNvPr>
          <p:cNvCxnSpPr>
            <a:stCxn id="59" idx="3"/>
          </p:cNvCxnSpPr>
          <p:nvPr/>
        </p:nvCxnSpPr>
        <p:spPr>
          <a:xfrm flipV="1">
            <a:off x="5197920" y="2374722"/>
            <a:ext cx="288480" cy="1"/>
          </a:xfrm>
          <a:prstGeom prst="straightConnector1">
            <a:avLst/>
          </a:prstGeom>
          <a:ln>
            <a:solidFill>
              <a:srgbClr val="6795F8"/>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69067BF3-B82D-01BE-D29B-3BD2A1B05AD1}"/>
              </a:ext>
            </a:extLst>
          </p:cNvPr>
          <p:cNvSpPr txBox="1"/>
          <p:nvPr/>
        </p:nvSpPr>
        <p:spPr>
          <a:xfrm>
            <a:off x="5479872" y="2046154"/>
            <a:ext cx="1269389" cy="646331"/>
          </a:xfrm>
          <a:prstGeom prst="rect">
            <a:avLst/>
          </a:prstGeom>
          <a:noFill/>
          <a:ln>
            <a:solidFill>
              <a:srgbClr val="6795F8"/>
            </a:solidFill>
            <a:prstDash val="lgDash"/>
          </a:ln>
        </p:spPr>
        <p:txBody>
          <a:bodyPr wrap="square" rtlCol="0">
            <a:spAutoFit/>
          </a:bodyPr>
          <a:lstStyle/>
          <a:p>
            <a:pPr algn="ctr"/>
            <a:r>
              <a:rPr lang="en-US" sz="900" b="1" dirty="0">
                <a:solidFill>
                  <a:srgbClr val="002060"/>
                </a:solidFill>
              </a:rPr>
              <a:t>Data Cleaning and Aggregation:</a:t>
            </a:r>
          </a:p>
          <a:p>
            <a:pPr algn="ctr"/>
            <a:r>
              <a:rPr lang="en-US" sz="900" dirty="0">
                <a:solidFill>
                  <a:srgbClr val="002060"/>
                </a:solidFill>
              </a:rPr>
              <a:t>Outlier remove</a:t>
            </a:r>
          </a:p>
          <a:p>
            <a:pPr algn="ctr"/>
            <a:r>
              <a:rPr lang="en-US" sz="900" dirty="0">
                <a:solidFill>
                  <a:srgbClr val="002060"/>
                </a:solidFill>
              </a:rPr>
              <a:t>Daily Rollups</a:t>
            </a:r>
          </a:p>
        </p:txBody>
      </p:sp>
      <p:cxnSp>
        <p:nvCxnSpPr>
          <p:cNvPr id="63" name="Straight Arrow Connector 62">
            <a:extLst>
              <a:ext uri="{FF2B5EF4-FFF2-40B4-BE49-F238E27FC236}">
                <a16:creationId xmlns:a16="http://schemas.microsoft.com/office/drawing/2014/main" id="{686C390D-37AA-6109-E828-7661099DDB7E}"/>
              </a:ext>
            </a:extLst>
          </p:cNvPr>
          <p:cNvCxnSpPr/>
          <p:nvPr/>
        </p:nvCxnSpPr>
        <p:spPr>
          <a:xfrm flipV="1">
            <a:off x="6756295" y="2369318"/>
            <a:ext cx="288480" cy="1"/>
          </a:xfrm>
          <a:prstGeom prst="straightConnector1">
            <a:avLst/>
          </a:prstGeom>
          <a:ln>
            <a:solidFill>
              <a:srgbClr val="6795F8"/>
            </a:solidFill>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CB812B2-49EB-AEA2-559F-D036CD7E6295}"/>
              </a:ext>
            </a:extLst>
          </p:cNvPr>
          <p:cNvSpPr txBox="1"/>
          <p:nvPr/>
        </p:nvSpPr>
        <p:spPr>
          <a:xfrm>
            <a:off x="7051809" y="1902245"/>
            <a:ext cx="1269389" cy="923330"/>
          </a:xfrm>
          <a:prstGeom prst="rect">
            <a:avLst/>
          </a:prstGeom>
          <a:noFill/>
          <a:ln>
            <a:solidFill>
              <a:srgbClr val="6795F8"/>
            </a:solidFill>
            <a:prstDash val="lgDash"/>
          </a:ln>
        </p:spPr>
        <p:txBody>
          <a:bodyPr wrap="square" rtlCol="0">
            <a:spAutoFit/>
          </a:bodyPr>
          <a:lstStyle/>
          <a:p>
            <a:pPr algn="ctr"/>
            <a:r>
              <a:rPr lang="en-US" sz="900" b="1" dirty="0" err="1">
                <a:solidFill>
                  <a:srgbClr val="002060"/>
                </a:solidFill>
              </a:rPr>
              <a:t>PowerBI</a:t>
            </a:r>
            <a:r>
              <a:rPr lang="en-US" sz="900" b="1" dirty="0">
                <a:solidFill>
                  <a:srgbClr val="002060"/>
                </a:solidFill>
              </a:rPr>
              <a:t> Dashboard</a:t>
            </a:r>
          </a:p>
          <a:p>
            <a:pPr algn="ctr"/>
            <a:r>
              <a:rPr lang="en-US" sz="900" dirty="0">
                <a:solidFill>
                  <a:srgbClr val="002060"/>
                </a:solidFill>
              </a:rPr>
              <a:t>Camping</a:t>
            </a:r>
          </a:p>
          <a:p>
            <a:pPr algn="ctr"/>
            <a:r>
              <a:rPr lang="en-US" sz="900" dirty="0">
                <a:solidFill>
                  <a:srgbClr val="002060"/>
                </a:solidFill>
              </a:rPr>
              <a:t>Travel</a:t>
            </a:r>
          </a:p>
          <a:p>
            <a:pPr algn="ctr"/>
            <a:r>
              <a:rPr lang="en-US" sz="900" dirty="0">
                <a:solidFill>
                  <a:srgbClr val="002060"/>
                </a:solidFill>
              </a:rPr>
              <a:t>Power</a:t>
            </a:r>
          </a:p>
          <a:p>
            <a:pPr algn="ctr"/>
            <a:r>
              <a:rPr lang="en-US" sz="900" dirty="0">
                <a:solidFill>
                  <a:srgbClr val="002060"/>
                </a:solidFill>
              </a:rPr>
              <a:t>Alerts</a:t>
            </a:r>
          </a:p>
          <a:p>
            <a:pPr algn="ctr"/>
            <a:r>
              <a:rPr lang="en-US" sz="900" dirty="0">
                <a:solidFill>
                  <a:srgbClr val="002060"/>
                </a:solidFill>
              </a:rPr>
              <a:t>Commands</a:t>
            </a:r>
          </a:p>
        </p:txBody>
      </p:sp>
      <p:pic>
        <p:nvPicPr>
          <p:cNvPr id="4" name="Picture 3">
            <a:extLst>
              <a:ext uri="{FF2B5EF4-FFF2-40B4-BE49-F238E27FC236}">
                <a16:creationId xmlns:a16="http://schemas.microsoft.com/office/drawing/2014/main" id="{BF3837E6-A82A-C721-D937-A4A3588A9E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8531" y="3673714"/>
            <a:ext cx="4346893" cy="2454012"/>
          </a:xfrm>
          <a:prstGeom prst="rect">
            <a:avLst/>
          </a:prstGeom>
        </p:spPr>
      </p:pic>
    </p:spTree>
    <p:extLst>
      <p:ext uri="{BB962C8B-B14F-4D97-AF65-F5344CB8AC3E}">
        <p14:creationId xmlns:p14="http://schemas.microsoft.com/office/powerpoint/2010/main" val="2107507636"/>
      </p:ext>
    </p:extLst>
  </p:cSld>
  <p:clrMapOvr>
    <a:masterClrMapping/>
  </p:clrMapOvr>
  <p:transition spd="slow">
    <p:push dir="u"/>
  </p:transition>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809</TotalTime>
  <Words>780</Words>
  <Application>Microsoft Office PowerPoint</Application>
  <PresentationFormat>Widescreen</PresentationFormat>
  <Paragraphs>64</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Retrospect</vt:lpstr>
      <vt:lpstr>1. Objective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Crop Profitability Analysis</dc:title>
  <dc:creator>Altemeier, Michael</dc:creator>
  <cp:lastModifiedBy>Emily Hamling</cp:lastModifiedBy>
  <cp:revision>8</cp:revision>
  <dcterms:modified xsi:type="dcterms:W3CDTF">2025-12-11T03:47:22Z</dcterms:modified>
</cp:coreProperties>
</file>